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C6A95B-61E6-4F9C-8686-07065E823637}">
  <a:tblStyle styleId="{32C6A95B-61E6-4F9C-8686-07065E82363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31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11" Type="http://schemas.openxmlformats.org/officeDocument/2006/relationships/image" Target="../media/image15.png"/><Relationship Id="rId10" Type="http://schemas.openxmlformats.org/officeDocument/2006/relationships/image" Target="../media/image6.png"/><Relationship Id="rId12" Type="http://schemas.openxmlformats.org/officeDocument/2006/relationships/image" Target="../media/image2.png"/><Relationship Id="rId9" Type="http://schemas.openxmlformats.org/officeDocument/2006/relationships/image" Target="../media/image16.png"/><Relationship Id="rId5" Type="http://schemas.openxmlformats.org/officeDocument/2006/relationships/image" Target="../media/image21.jp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10" Type="http://schemas.openxmlformats.org/officeDocument/2006/relationships/image" Target="../media/image25.png"/><Relationship Id="rId9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11" Type="http://schemas.openxmlformats.org/officeDocument/2006/relationships/image" Target="../media/image49.png"/><Relationship Id="rId10" Type="http://schemas.openxmlformats.org/officeDocument/2006/relationships/image" Target="../media/image35.png"/><Relationship Id="rId12" Type="http://schemas.openxmlformats.org/officeDocument/2006/relationships/image" Target="../media/image36.png"/><Relationship Id="rId9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46.png"/><Relationship Id="rId5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34.png"/><Relationship Id="rId5" Type="http://schemas.openxmlformats.org/officeDocument/2006/relationships/image" Target="../media/image51.jpg"/><Relationship Id="rId6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5" Type="http://schemas.openxmlformats.org/officeDocument/2006/relationships/image" Target="../media/image58.jpg"/><Relationship Id="rId6" Type="http://schemas.openxmlformats.org/officeDocument/2006/relationships/image" Target="../media/image15.png"/><Relationship Id="rId7" Type="http://schemas.openxmlformats.org/officeDocument/2006/relationships/image" Target="../media/image39.png"/><Relationship Id="rId8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50.png"/><Relationship Id="rId13" Type="http://schemas.openxmlformats.org/officeDocument/2006/relationships/image" Target="../media/image60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45.png"/><Relationship Id="rId9" Type="http://schemas.openxmlformats.org/officeDocument/2006/relationships/image" Target="../media/image53.png"/><Relationship Id="rId15" Type="http://schemas.openxmlformats.org/officeDocument/2006/relationships/image" Target="../media/image44.png"/><Relationship Id="rId14" Type="http://schemas.openxmlformats.org/officeDocument/2006/relationships/image" Target="../media/image56.png"/><Relationship Id="rId5" Type="http://schemas.openxmlformats.org/officeDocument/2006/relationships/image" Target="../media/image42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64.png"/><Relationship Id="rId9" Type="http://schemas.openxmlformats.org/officeDocument/2006/relationships/image" Target="../media/image57.png"/><Relationship Id="rId5" Type="http://schemas.openxmlformats.org/officeDocument/2006/relationships/image" Target="../media/image62.png"/><Relationship Id="rId6" Type="http://schemas.openxmlformats.org/officeDocument/2006/relationships/image" Target="../media/image55.png"/><Relationship Id="rId7" Type="http://schemas.openxmlformats.org/officeDocument/2006/relationships/image" Target="../media/image52.png"/><Relationship Id="rId8" Type="http://schemas.openxmlformats.org/officeDocument/2006/relationships/image" Target="../media/image65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0.png"/><Relationship Id="rId1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59.png"/><Relationship Id="rId9" Type="http://schemas.openxmlformats.org/officeDocument/2006/relationships/image" Target="../media/image69.png"/><Relationship Id="rId5" Type="http://schemas.openxmlformats.org/officeDocument/2006/relationships/image" Target="../media/image71.png"/><Relationship Id="rId6" Type="http://schemas.openxmlformats.org/officeDocument/2006/relationships/image" Target="../media/image67.png"/><Relationship Id="rId7" Type="http://schemas.openxmlformats.org/officeDocument/2006/relationships/image" Target="../media/image61.png"/><Relationship Id="rId8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748087" y="1298376"/>
            <a:ext cx="46958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ANALYST CAPSTONE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70521" y="1761022"/>
            <a:ext cx="745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Mutual Fund Analytics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3062287"/>
            <a:ext cx="762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95275" y="3862387"/>
            <a:ext cx="116014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EA5E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Sumit Banerjee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22999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 Analyst Intern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458241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Bluestock Fintech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5194867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45720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  June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endParaRPr/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9262" y="521106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2561688" y="2499925"/>
            <a:ext cx="706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Python | SQL | Power BI | Financial Analytics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46795"/>
            <a:ext cx="3492549" cy="3806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46795"/>
            <a:ext cx="3492549" cy="3806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46795"/>
            <a:ext cx="3492549" cy="380613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1037540" y="2775495"/>
            <a:ext cx="256032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Business Problem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14400" y="3238351"/>
            <a:ext cx="2806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need for a centralized, data-driven approach to evaluate mutual fund performance, track market trends, and decode underlying investor transaction patterns.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805838" y="2775495"/>
            <a:ext cx="258032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Objectives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92699" y="3238351"/>
            <a:ext cx="280674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Consolidate disparate data sources, engineer robust financial metrics, and build an interactive dashboard to empower strategic investment decisions.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39120" y="2775495"/>
            <a:ext cx="287035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Expected Outcomes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470999" y="3238351"/>
            <a:ext cx="280674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comprehensive BI dashboard providing actionable insights on fund risk-adjusted returns, SIP inflow trends, and target demographic behaviors.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7200" y="215637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215637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799" y="215637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Overview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571500" y="114672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0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754409"/>
            <a:ext cx="52863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782872"/>
            <a:ext cx="528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Total Sources Used: 10 Raw Datasets + MFAPI + Generated Analytics Tables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52500" y="1792634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Fund Master Data: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AMC details, fund categories, launch dates.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52500" y="2592734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NAV History: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Historical pricing data via direct MFAPI integration.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52500" y="3392834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AUM Data: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Asset Under Management metrics by fund house.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52500" y="4192934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SIP Inflows: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Monthly systematic investment tracking.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52500" y="4688234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Investor Transactions: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Granular purchase/redemption logs.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52500" y="5488334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Portfolio Holdings: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Asset allocation and sector breakdown.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52500" y="6288434"/>
            <a:ext cx="4905375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Benchmark Data: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NIFTY 50 and index comparative baselines.</a:t>
            </a:r>
            <a:endParaRPr/>
          </a:p>
        </p:txBody>
      </p:sp>
      <p:pic>
        <p:nvPicPr>
          <p:cNvPr id="127" name="Google Shape;127;p15"/>
          <p:cNvPicPr preferRelativeResize="0"/>
          <p:nvPr/>
        </p:nvPicPr>
        <p:blipFill rotWithShape="1">
          <a:blip r:embed="rId5">
            <a:alphaModFix/>
          </a:blip>
          <a:srcRect b="6755" l="0" r="0" t="6755"/>
          <a:stretch/>
        </p:blipFill>
        <p:spPr>
          <a:xfrm>
            <a:off x="6334125" y="754409"/>
            <a:ext cx="5286374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83549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63559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43569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23579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473109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553119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500" y="6331297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520350" y="-1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Comprehensive Data Sources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71500" y="552009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82417"/>
            <a:ext cx="2619375" cy="1144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75" y="4582417"/>
            <a:ext cx="2619375" cy="1144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4582417"/>
            <a:ext cx="2619375" cy="1144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5" y="4582417"/>
            <a:ext cx="2619375" cy="1144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00" y="261074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781050" y="3134617"/>
            <a:ext cx="1409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Raw CSV Files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&amp; APIs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95550" y="292030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24262" y="261074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3086100" y="3134617"/>
            <a:ext cx="1409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Python ETL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Data Cleaning</a:t>
            </a:r>
            <a:endParaRPr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0600" y="292030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312" y="261074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5391150" y="3134617"/>
            <a:ext cx="1409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SQLite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Database</a:t>
            </a:r>
            <a:endParaRPr/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5650" y="292030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10550" y="261074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7696200" y="3134617"/>
            <a:ext cx="1409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Analytics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Engine</a:t>
            </a:r>
            <a:endParaRPr/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0700" y="2920305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1787" y="261074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10001250" y="3134617"/>
            <a:ext cx="1409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Power BI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Dashboard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726038" y="4772917"/>
            <a:ext cx="231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1. Extraction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711675" y="5046300"/>
            <a:ext cx="2517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Gathering multiple mutual fund datasets from CSV files and APIs.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3609975" y="4772917"/>
            <a:ext cx="2310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2. Transformation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3609975" y="5049142"/>
            <a:ext cx="22002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Handling missing values, standardizing dates.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419850" y="4772917"/>
            <a:ext cx="2310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3. Load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419850" y="5049142"/>
            <a:ext cx="22002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Relational mapping using SQLAlchemy.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9229725" y="4772917"/>
            <a:ext cx="23102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4. Visualization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9229725" y="5049142"/>
            <a:ext cx="22002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Interactive DAX measures &amp; reporting.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571500" y="571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Pipeline &amp; Architecture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571500" y="114672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40247"/>
            <a:ext cx="23812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4250" y="1740247"/>
            <a:ext cx="23812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40247"/>
            <a:ext cx="23812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0" y="1740247"/>
            <a:ext cx="23812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24250" y="4111972"/>
            <a:ext cx="23812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111972"/>
            <a:ext cx="23812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0212" y="2130772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962025" y="2845147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Python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504950" y="3168997"/>
            <a:ext cx="895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Core Scripting</a:t>
            </a:r>
            <a:endParaRPr/>
          </a:p>
        </p:txBody>
      </p:sp>
      <p:pic>
        <p:nvPicPr>
          <p:cNvPr descr="image.png" id="184" name="Google Shape;18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29125" y="213077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 txBox="1"/>
          <p:nvPr/>
        </p:nvSpPr>
        <p:spPr>
          <a:xfrm>
            <a:off x="3724275" y="2845147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Pandas &amp; NumPy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4148137" y="3168997"/>
            <a:ext cx="11334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 Manipulation</a:t>
            </a:r>
            <a:endParaRPr/>
          </a:p>
        </p:txBody>
      </p:sp>
      <p:pic>
        <p:nvPicPr>
          <p:cNvPr descr="image.png" id="187" name="Google Shape;18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24712" y="2130772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6486525" y="2845147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SQLite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7062787" y="3168997"/>
            <a:ext cx="8286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 Storage</a:t>
            </a:r>
            <a:endParaRPr/>
          </a:p>
        </p:txBody>
      </p:sp>
      <p:pic>
        <p:nvPicPr>
          <p:cNvPr descr="image.png" id="190" name="Google Shape;19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53625" y="213077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/>
          <p:nvPr/>
        </p:nvSpPr>
        <p:spPr>
          <a:xfrm>
            <a:off x="9248775" y="2845147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SQLAlchemy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9725025" y="3168997"/>
            <a:ext cx="10287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ORM Integration</a:t>
            </a:r>
            <a:endParaRPr/>
          </a:p>
        </p:txBody>
      </p:sp>
      <p:pic>
        <p:nvPicPr>
          <p:cNvPr descr="image.png" id="193" name="Google Shape;19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29125" y="450249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/>
          <p:nvPr/>
        </p:nvSpPr>
        <p:spPr>
          <a:xfrm>
            <a:off x="3724275" y="5216872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Power BI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4157662" y="5540722"/>
            <a:ext cx="1114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 Visualization</a:t>
            </a:r>
            <a:endParaRPr/>
          </a:p>
        </p:txBody>
      </p:sp>
      <p:pic>
        <p:nvPicPr>
          <p:cNvPr descr="image.png" id="196" name="Google Shape;196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00900" y="4502497"/>
            <a:ext cx="5524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6486525" y="5216872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GitHub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7005637" y="5540722"/>
            <a:ext cx="9429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Version Control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571500" y="564951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Technology Stack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571500" y="1140172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title="nav_trend.png"/>
          <p:cNvPicPr preferRelativeResize="0"/>
          <p:nvPr/>
        </p:nvPicPr>
        <p:blipFill rotWithShape="1">
          <a:blip r:embed="rId4">
            <a:alphaModFix/>
          </a:blip>
          <a:srcRect b="-2281" l="0" r="-7654" t="0"/>
          <a:stretch/>
        </p:blipFill>
        <p:spPr>
          <a:xfrm>
            <a:off x="5577300" y="1761875"/>
            <a:ext cx="6775851" cy="3596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571500" y="1556295"/>
            <a:ext cx="555069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Market Insights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322075" y="5357995"/>
            <a:ext cx="528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NAV Trend Analysis (2022-2026)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952500" y="2021075"/>
            <a:ext cx="4567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NAV values showed a consistent upward trend across most equity-oriented funds. 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952500" y="2821175"/>
            <a:ext cx="4567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Monthly SIP inflows increased steadily throughout the analysis period. 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952500" y="3621275"/>
            <a:ext cx="4731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ndustry AUM demonstrated strong long-term growth. 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952500" y="4273958"/>
            <a:ext cx="49053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Investor transactions were concentrated across key age groups and major states. 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Correlation analysis revealed varying relationships between fund categories. 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13" name="Google Shape;21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6394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6404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6414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73948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 txBox="1"/>
          <p:nvPr/>
        </p:nvSpPr>
        <p:spPr>
          <a:xfrm>
            <a:off x="571500" y="55227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Exploratory Data Analysis (EDA)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571500" y="114672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61398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 txBox="1"/>
          <p:nvPr/>
        </p:nvSpPr>
        <p:spPr>
          <a:xfrm>
            <a:off x="523150" y="1253975"/>
            <a:ext cx="45837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Key Metrics Calculated: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CAGR (Compound Annual Growth Rate)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Sharpe Ratio (Risk-Adjusted Return)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Sortino Ratio (Downside Risk-Adjusted Return)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Alpha &amp; Beta Analysis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Maximum Drawdown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Fund Scorecard Ranking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226" name="Google Shape;226;p19"/>
          <p:cNvGraphicFramePr/>
          <p:nvPr/>
        </p:nvGraphicFramePr>
        <p:xfrm>
          <a:off x="3175625" y="38801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{32C6A95B-61E6-4F9C-8686-07065E823637}</a:tableStyleId>
              </a:tblPr>
              <a:tblGrid>
                <a:gridCol w="3491425"/>
                <a:gridCol w="2280250"/>
              </a:tblGrid>
              <a:tr h="46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334155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500">
                          <a:solidFill>
                            <a:srgbClr val="334155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46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Highest Sharpe Ratio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1.09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Highest Sortino Ratio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1.83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Best Fund Score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Lowest Drawdown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-4.31</a:t>
                      </a:r>
                      <a:r>
                        <a:rPr b="0" i="0" lang="en-US" sz="1500" u="none" cap="none" strike="noStrike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19"/>
          <p:cNvSpPr/>
          <p:nvPr/>
        </p:nvSpPr>
        <p:spPr>
          <a:xfrm>
            <a:off x="571500" y="5721697"/>
            <a:ext cx="20502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2621756" y="5721697"/>
            <a:ext cx="13390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3960762" y="5721697"/>
            <a:ext cx="155867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5519439" y="5721697"/>
            <a:ext cx="16825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7201941" y="5721697"/>
            <a:ext cx="130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8503592" y="5721697"/>
            <a:ext cx="1168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9671893" y="5721697"/>
            <a:ext cx="19486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571500" y="512564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Performance Analytics &amp; Risk Metrics</a:t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650225" y="1087784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6252775" y="1253975"/>
            <a:ext cx="4819800" cy="22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Project Highlights: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Best Fund Score Achieved: 100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Top Ranked Fund: AMFI 120505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Highest Observed Sharpe Ratio: 1.09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Highest Observed Sortino Ratio: 1.83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Maximum Drawdown Range: -4.31% to -35.45%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8820"/>
            <a:ext cx="523875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571500" y="571500"/>
            <a:ext cx="5500687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 Dashboard Overview</a:t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571500" y="1146720"/>
            <a:ext cx="523875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20" title="Web_Photo_Editor.jpg"/>
          <p:cNvPicPr preferRelativeResize="0"/>
          <p:nvPr/>
        </p:nvPicPr>
        <p:blipFill rotWithShape="1">
          <a:blip r:embed="rId5">
            <a:alphaModFix/>
          </a:blip>
          <a:srcRect b="-9939" l="0" r="0" t="-8097"/>
          <a:stretch/>
        </p:blipFill>
        <p:spPr>
          <a:xfrm>
            <a:off x="6381750" y="0"/>
            <a:ext cx="581024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 txBox="1"/>
          <p:nvPr/>
        </p:nvSpPr>
        <p:spPr>
          <a:xfrm>
            <a:off x="571500" y="136579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interactive Power BI dashboard serves as the central hub for our insights, seamlessly connecting the backend SQL database to front-end visual analytics.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800100" y="2899320"/>
            <a:ext cx="50606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Primary KPIs Tracked</a:t>
            </a:r>
            <a:endParaRPr/>
          </a:p>
        </p:txBody>
      </p:sp>
      <p:pic>
        <p:nvPicPr>
          <p:cNvPr descr="image.png" id="248" name="Google Shape;24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" y="291837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1266825" y="322317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1371600" y="3223175"/>
            <a:ext cx="4616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Total AUM: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Industry-wide asset growth tracking 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1266825" y="352797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1371600" y="3527970"/>
            <a:ext cx="424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Total SIP Inflow: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Monthly retail investment monitoring 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1266825" y="413757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1371600" y="4137570"/>
            <a:ext cx="424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Fund Performance: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NAV trend and scorecard analysis</a:t>
            </a:r>
            <a:r>
              <a:rPr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1266825" y="474717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1371600" y="4747170"/>
            <a:ext cx="424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Risk vs Return: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Risk-adjusted fund comparison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6295"/>
            <a:ext cx="52863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6334125" y="1556295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Investor Insights</a:t>
            </a:r>
            <a:endParaRPr/>
          </a:p>
        </p:txBody>
      </p:sp>
      <p:pic>
        <p:nvPicPr>
          <p:cNvPr id="264" name="Google Shape;264;p21" title="2.jpg"/>
          <p:cNvPicPr preferRelativeResize="0"/>
          <p:nvPr/>
        </p:nvPicPr>
        <p:blipFill rotWithShape="1">
          <a:blip r:embed="rId5">
            <a:alphaModFix/>
          </a:blip>
          <a:srcRect b="-916" l="0" r="0" t="-886"/>
          <a:stretch/>
        </p:blipFill>
        <p:spPr>
          <a:xfrm>
            <a:off x="380225" y="1390875"/>
            <a:ext cx="5741974" cy="496602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6715125" y="2021085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Investor activity was analyzed across age groups and city tiers. 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715125" y="2821185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State-wise transaction patterns highlighted regional investment concentration.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6715150" y="3773885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SIP transactions represented the dominant recurring investment mode. 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6689025" y="4848085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Monthly transaction volume showed consistent participation throughout the analysis period. </a:t>
            </a:r>
            <a:endParaRPr/>
          </a:p>
        </p:txBody>
      </p:sp>
      <p:pic>
        <p:nvPicPr>
          <p:cNvPr descr="image.png" id="269" name="Google Shape;26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06394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286404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23413" y="37738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2938" y="484807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571500" y="571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Investor Analytics Dashboard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571500" y="114672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56295"/>
            <a:ext cx="3524250" cy="1960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556295"/>
            <a:ext cx="3524250" cy="1960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556295"/>
            <a:ext cx="3524250" cy="1960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754487"/>
            <a:ext cx="3524250" cy="1960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33875" y="3754487"/>
            <a:ext cx="3524250" cy="19600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0" y="3754487"/>
            <a:ext cx="3524250" cy="196006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/>
        </p:nvSpPr>
        <p:spPr>
          <a:xfrm>
            <a:off x="914400" y="1927770"/>
            <a:ext cx="29803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 &amp; CVaR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914400" y="2299245"/>
            <a:ext cx="2838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Modeled downside risk using historical fund returns. 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4676775" y="1927770"/>
            <a:ext cx="29803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Rolling Sharpe Ratio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4676775" y="2299245"/>
            <a:ext cx="2838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Tracked rolling Sharpe ratios to evaluate consistency of risk-adjusted performance over time.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8439150" y="1927770"/>
            <a:ext cx="29803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Cohort Analysis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8439150" y="2299245"/>
            <a:ext cx="2838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Grouped investors by onboarding month to track long-term portfolio growth and retention behavior.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914400" y="4125962"/>
            <a:ext cx="29803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SIP Continuity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914400" y="4497437"/>
            <a:ext cx="2838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Identified investors at risk of SIP discontinuation using transaction frequency and average gap analysis.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4676775" y="4125962"/>
            <a:ext cx="29803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Sector HHI Analysis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4676775" y="4497437"/>
            <a:ext cx="28384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Utilized Herfindahl-Hirschman Index to measure portfolio concentration and sector diversification risks.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8439150" y="4125962"/>
            <a:ext cx="29803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Recommendation Engine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8439150" y="4497425"/>
            <a:ext cx="30363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Built logic to map investor risk profiles to suitable mutual fund recommendations using historical fund performance data.</a:t>
            </a:r>
            <a:endParaRPr/>
          </a:p>
        </p:txBody>
      </p:sp>
      <p:pic>
        <p:nvPicPr>
          <p:cNvPr descr="image.png" id="298" name="Google Shape;298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19468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76775" y="19468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39150" y="194682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14400" y="414501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76775" y="41450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39150" y="4145012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2"/>
          <p:cNvSpPr txBox="1"/>
          <p:nvPr/>
        </p:nvSpPr>
        <p:spPr>
          <a:xfrm>
            <a:off x="571500" y="571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Advanced Analytics &amp; Modeling</a:t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571500" y="114672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0" name="Google Shape;31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875400"/>
            <a:ext cx="5286375" cy="59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875407"/>
            <a:ext cx="5286375" cy="45395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167062"/>
            <a:ext cx="46005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3786187"/>
            <a:ext cx="460057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77025" y="4595812"/>
            <a:ext cx="46005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3"/>
          <p:cNvSpPr txBox="1"/>
          <p:nvPr/>
        </p:nvSpPr>
        <p:spPr>
          <a:xfrm>
            <a:off x="914400" y="1904107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Findings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6677025" y="1904107"/>
            <a:ext cx="483060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Targeted Recommendations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6677025" y="2366962"/>
            <a:ext cx="4600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Data-driven portfolio alignment based on investor profiles:</a:t>
            </a:r>
            <a:endParaRPr/>
          </a:p>
        </p:txBody>
      </p:sp>
      <p:pic>
        <p:nvPicPr>
          <p:cNvPr descr="image.png" id="319" name="Google Shape;31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128498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77025" y="12849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3"/>
          <p:cNvSpPr txBox="1"/>
          <p:nvPr/>
        </p:nvSpPr>
        <p:spPr>
          <a:xfrm>
            <a:off x="6858000" y="3274224"/>
            <a:ext cx="13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Low Risk Appetite</a:t>
            </a:r>
            <a:endParaRPr/>
          </a:p>
        </p:txBody>
      </p:sp>
      <p:pic>
        <p:nvPicPr>
          <p:cNvPr descr="image.png" id="322" name="Google Shape;322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15325" y="332898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3"/>
          <p:cNvSpPr txBox="1"/>
          <p:nvPr/>
        </p:nvSpPr>
        <p:spPr>
          <a:xfrm>
            <a:off x="6766450" y="3931900"/>
            <a:ext cx="187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Moderate Risk Appetite</a:t>
            </a:r>
            <a:endParaRPr/>
          </a:p>
        </p:txBody>
      </p:sp>
      <p:pic>
        <p:nvPicPr>
          <p:cNvPr descr="image.png" id="324" name="Google Shape;324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15375" y="394811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3"/>
          <p:cNvSpPr txBox="1"/>
          <p:nvPr/>
        </p:nvSpPr>
        <p:spPr>
          <a:xfrm>
            <a:off x="6858000" y="4738687"/>
            <a:ext cx="1352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High Risk Appetite</a:t>
            </a:r>
            <a:endParaRPr/>
          </a:p>
        </p:txBody>
      </p:sp>
      <p:pic>
        <p:nvPicPr>
          <p:cNvPr descr="image.png" id="326" name="Google Shape;326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53425" y="4757737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 txBox="1"/>
          <p:nvPr/>
        </p:nvSpPr>
        <p:spPr>
          <a:xfrm>
            <a:off x="1295388" y="2366962"/>
            <a:ext cx="4219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Sustained AUM Growth: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industry shows robust compounded growth despite short-term volatility.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1295400" y="3481375"/>
            <a:ext cx="4449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SIP Dominance: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SIP transactions represented the dominant recurring investment mode across investors. 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1295388" y="4506512"/>
            <a:ext cx="4219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Risk Adjustments Matter: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Several high-return funds failed on risk metrics (high Max Drawdown).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1295388" y="5531637"/>
            <a:ext cx="4219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Diversification pays off: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Lower Sector HHI values indicated better portfolio diversification and reduced concentration risk.</a:t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1" name="Google Shape;331;p23"/>
          <p:cNvSpPr txBox="1"/>
          <p:nvPr/>
        </p:nvSpPr>
        <p:spPr>
          <a:xfrm>
            <a:off x="571500" y="96287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Findings &amp; Strategic Recommendations</a:t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571500" y="465832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8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3236565"/>
            <a:ext cx="8839200" cy="214491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4"/>
          <p:cNvSpPr txBox="1"/>
          <p:nvPr/>
        </p:nvSpPr>
        <p:spPr>
          <a:xfrm>
            <a:off x="4000738" y="1476523"/>
            <a:ext cx="419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2655675" y="2385575"/>
            <a:ext cx="726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Transforming Mutual Fund Data into Actionable Investment Insights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1765458" y="3531840"/>
            <a:ext cx="866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Skills Demonstrated:</a:t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1971675" y="4554735"/>
            <a:ext cx="8248800" cy="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 txBox="1"/>
          <p:nvPr/>
        </p:nvSpPr>
        <p:spPr>
          <a:xfrm>
            <a:off x="1971675" y="4692863"/>
            <a:ext cx="82488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sumit77185@gmail.com</a:t>
            </a:r>
            <a:endParaRPr b="0" sz="13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44" name="Google Shape;34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8012" y="3926085"/>
            <a:ext cx="8001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90987" y="3926085"/>
            <a:ext cx="600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33937" y="3926085"/>
            <a:ext cx="9429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9787" y="3926085"/>
            <a:ext cx="13335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96162" y="3926085"/>
            <a:ext cx="16478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86337" y="472931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86325" y="5099600"/>
            <a:ext cx="207900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4"/>
          <p:cNvSpPr txBox="1"/>
          <p:nvPr/>
        </p:nvSpPr>
        <p:spPr>
          <a:xfrm>
            <a:off x="5157778" y="5015646"/>
            <a:ext cx="5103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https://github.com/sumit123-tech/bluestock-mf-capstone</a:t>
            </a:r>
            <a:endParaRPr b="0"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